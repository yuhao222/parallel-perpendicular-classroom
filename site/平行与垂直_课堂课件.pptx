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097280"/>
            <a:ext cx="1219169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600" b="1">
                <a:solidFill>
                  <a:srgbClr val="1C2230"/>
                </a:solidFill>
                <a:latin typeface="微软雅黑"/>
              </a:rPr>
              <a:t>平行与垂直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2834640"/>
            <a:ext cx="121916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0">
                <a:solidFill>
                  <a:srgbClr val="5A6478"/>
                </a:solidFill>
                <a:latin typeface="微软雅黑"/>
              </a:rPr>
              <a:t>人教版四年级上册  第五单元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474720"/>
            <a:ext cx="121916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1C2230"/>
                </a:solidFill>
                <a:latin typeface="微软雅黑"/>
              </a:rPr>
              <a:t>同一平面内两条直线的位置关系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754880"/>
            <a:ext cx="121916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5A6478"/>
                </a:solidFill>
                <a:latin typeface="微软雅黑"/>
              </a:rPr>
              <a:t>孙悟空：演示与追问        猪八戒：出题与点评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228600"/>
            <a:ext cx="121916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1C2230"/>
                </a:solidFill>
                <a:latin typeface="微软雅黑"/>
              </a:rPr>
              <a:t>判断练习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0">
                <a:solidFill>
                  <a:srgbClr val="5A6478"/>
                </a:solidFill>
                <a:latin typeface="微软雅黑"/>
              </a:rPr>
              <a:t>请判断下面每组两条直线的位置关系，在括号里写“相交”或“不相交”。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600199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1C2230"/>
                </a:solidFill>
                <a:latin typeface="微软雅黑"/>
              </a:rPr>
              <a:t>第1组</a:t>
            </a:r>
          </a:p>
        </p:txBody>
      </p:sp>
      <p:pic>
        <p:nvPicPr>
          <p:cNvPr id="5" name="Picture 4" descr="cro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3120" y="2057400"/>
            <a:ext cx="1876926" cy="13716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057400" y="3566160"/>
            <a:ext cx="1828800" cy="640080"/>
          </a:xfrm>
          <a:prstGeom prst="roundRect">
            <a:avLst/>
          </a:prstGeom>
          <a:noFill/>
          <a:ln w="28575">
            <a:solidFill>
              <a:srgbClr val="1C2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57400" y="3584448"/>
            <a:ext cx="182880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5A6478"/>
                </a:solidFill>
                <a:latin typeface="微软雅黑"/>
              </a:rPr>
              <a:t>（        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1600199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1C2230"/>
                </a:solidFill>
                <a:latin typeface="微软雅黑"/>
              </a:rPr>
              <a:t>第2组</a:t>
            </a:r>
          </a:p>
        </p:txBody>
      </p:sp>
      <p:pic>
        <p:nvPicPr>
          <p:cNvPr id="9" name="Picture 8" descr="parallel_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0" y="2057400"/>
            <a:ext cx="1876926" cy="13716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635240" y="3566160"/>
            <a:ext cx="1828800" cy="640080"/>
          </a:xfrm>
          <a:prstGeom prst="roundRect">
            <a:avLst/>
          </a:prstGeom>
          <a:noFill/>
          <a:ln w="28575">
            <a:solidFill>
              <a:srgbClr val="1C2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35240" y="3584448"/>
            <a:ext cx="182880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5A6478"/>
                </a:solidFill>
                <a:latin typeface="微软雅黑"/>
              </a:rPr>
              <a:t>（        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794760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1C2230"/>
                </a:solidFill>
                <a:latin typeface="微软雅黑"/>
              </a:rPr>
              <a:t>第3组</a:t>
            </a:r>
          </a:p>
        </p:txBody>
      </p:sp>
      <p:pic>
        <p:nvPicPr>
          <p:cNvPr id="13" name="Picture 12" descr="conver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3120" y="4251960"/>
            <a:ext cx="1876926" cy="137160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2057400" y="5760720"/>
            <a:ext cx="1828800" cy="640080"/>
          </a:xfrm>
          <a:prstGeom prst="roundRect">
            <a:avLst/>
          </a:prstGeom>
          <a:noFill/>
          <a:ln w="28575">
            <a:solidFill>
              <a:srgbClr val="1C2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57400" y="5779008"/>
            <a:ext cx="182880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5A6478"/>
                </a:solidFill>
                <a:latin typeface="微软雅黑"/>
              </a:rPr>
              <a:t>（        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0" y="3794760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1C2230"/>
                </a:solidFill>
                <a:latin typeface="微软雅黑"/>
              </a:rPr>
              <a:t>第4组</a:t>
            </a:r>
          </a:p>
        </p:txBody>
      </p:sp>
      <p:pic>
        <p:nvPicPr>
          <p:cNvPr id="17" name="Picture 16" descr="cross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80960" y="4251960"/>
            <a:ext cx="1876926" cy="1371600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7635240" y="5760720"/>
            <a:ext cx="1828800" cy="640080"/>
          </a:xfrm>
          <a:prstGeom prst="roundRect">
            <a:avLst/>
          </a:prstGeom>
          <a:noFill/>
          <a:ln w="28575">
            <a:solidFill>
              <a:srgbClr val="1C2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35240" y="5779008"/>
            <a:ext cx="182880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5A6478"/>
                </a:solidFill>
                <a:latin typeface="微软雅黑"/>
              </a:rPr>
              <a:t>（        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82880"/>
            <a:ext cx="121916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1C2230"/>
                </a:solidFill>
                <a:latin typeface="微软雅黑"/>
              </a:rPr>
              <a:t>第一题（基础层）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005840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5A6478"/>
                </a:solidFill>
                <a:latin typeface="微软雅黑"/>
              </a:rPr>
              <a:t>判断下面每组两条直线的位置关系，在括号里写“平行”或“垂直”；如果是垂直，在图上标出垂足。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1C2230"/>
                </a:solidFill>
                <a:latin typeface="微软雅黑"/>
              </a:rPr>
              <a:t>第1组</a:t>
            </a:r>
          </a:p>
        </p:txBody>
      </p:sp>
      <p:pic>
        <p:nvPicPr>
          <p:cNvPr id="5" name="Picture 4" descr="parallel_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3120" y="2194560"/>
            <a:ext cx="1876926" cy="13716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057400" y="3703320"/>
            <a:ext cx="1828800" cy="640080"/>
          </a:xfrm>
          <a:prstGeom prst="roundRect">
            <a:avLst/>
          </a:prstGeom>
          <a:noFill/>
          <a:ln w="28575">
            <a:solidFill>
              <a:srgbClr val="1C2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57400" y="3721608"/>
            <a:ext cx="182880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5A6478"/>
                </a:solidFill>
                <a:latin typeface="微软雅黑"/>
              </a:rPr>
              <a:t>（        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1737360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1C2230"/>
                </a:solidFill>
                <a:latin typeface="微软雅黑"/>
              </a:rPr>
              <a:t>第2组</a:t>
            </a:r>
          </a:p>
        </p:txBody>
      </p:sp>
      <p:pic>
        <p:nvPicPr>
          <p:cNvPr id="9" name="Picture 8" descr="per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0" y="2194560"/>
            <a:ext cx="1371600" cy="13716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635240" y="3703320"/>
            <a:ext cx="1828800" cy="640080"/>
          </a:xfrm>
          <a:prstGeom prst="roundRect">
            <a:avLst/>
          </a:prstGeom>
          <a:noFill/>
          <a:ln w="28575">
            <a:solidFill>
              <a:srgbClr val="1C2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35240" y="3721608"/>
            <a:ext cx="182880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5A6478"/>
                </a:solidFill>
                <a:latin typeface="微软雅黑"/>
              </a:rPr>
              <a:t>（        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931920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1C2230"/>
                </a:solidFill>
                <a:latin typeface="微软雅黑"/>
              </a:rPr>
              <a:t>第3组</a:t>
            </a:r>
          </a:p>
        </p:txBody>
      </p:sp>
      <p:pic>
        <p:nvPicPr>
          <p:cNvPr id="13" name="Picture 12" descr="conver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3120" y="4389120"/>
            <a:ext cx="1876926" cy="137160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2057400" y="5897879"/>
            <a:ext cx="1828800" cy="640080"/>
          </a:xfrm>
          <a:prstGeom prst="roundRect">
            <a:avLst/>
          </a:prstGeom>
          <a:noFill/>
          <a:ln w="28575">
            <a:solidFill>
              <a:srgbClr val="1C2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57400" y="5916168"/>
            <a:ext cx="182880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5A6478"/>
                </a:solidFill>
                <a:latin typeface="微软雅黑"/>
              </a:rPr>
              <a:t>（        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0" y="3931920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1C2230"/>
                </a:solidFill>
                <a:latin typeface="微软雅黑"/>
              </a:rPr>
              <a:t>第4组</a:t>
            </a:r>
          </a:p>
        </p:txBody>
      </p:sp>
      <p:pic>
        <p:nvPicPr>
          <p:cNvPr id="17" name="Picture 16" descr="perp_obliq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80960" y="4389120"/>
            <a:ext cx="1371600" cy="1371600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7635240" y="5897879"/>
            <a:ext cx="1828800" cy="640080"/>
          </a:xfrm>
          <a:prstGeom prst="roundRect">
            <a:avLst/>
          </a:prstGeom>
          <a:noFill/>
          <a:ln w="28575">
            <a:solidFill>
              <a:srgbClr val="1C2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35240" y="5916168"/>
            <a:ext cx="182880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5A6478"/>
                </a:solidFill>
                <a:latin typeface="微软雅黑"/>
              </a:rPr>
              <a:t>（        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274320"/>
            <a:ext cx="121916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1C2230"/>
                </a:solidFill>
                <a:latin typeface="微软雅黑"/>
              </a:rPr>
              <a:t>第二题（判断对错）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0">
                <a:solidFill>
                  <a:srgbClr val="5A6478"/>
                </a:solidFill>
                <a:latin typeface="微软雅黑"/>
              </a:rPr>
              <a:t>判断下面说法是否正确，在括号里写“对”或“错”，并说说理由。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8778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>
                <a:solidFill>
                  <a:srgbClr val="1C2230"/>
                </a:solidFill>
                <a:latin typeface="微软雅黑"/>
              </a:rPr>
              <a:t>1. 不相交的两条直线叫平行线。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0" y="2011680"/>
            <a:ext cx="1371600" cy="566928"/>
          </a:xfrm>
          <a:prstGeom prst="roundRect">
            <a:avLst/>
          </a:prstGeom>
          <a:noFill/>
          <a:ln w="28575">
            <a:solidFill>
              <a:srgbClr val="1C2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063240"/>
            <a:ext cx="8778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>
                <a:solidFill>
                  <a:srgbClr val="1C2230"/>
                </a:solidFill>
                <a:latin typeface="微软雅黑"/>
              </a:rPr>
              <a:t>2. 两条直线相交成直角，就说这两条直线互相垂直。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058400" y="3063240"/>
            <a:ext cx="1371600" cy="566928"/>
          </a:xfrm>
          <a:prstGeom prst="roundRect">
            <a:avLst/>
          </a:prstGeom>
          <a:noFill/>
          <a:ln w="28575">
            <a:solidFill>
              <a:srgbClr val="1C2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8778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>
                <a:solidFill>
                  <a:srgbClr val="1C2230"/>
                </a:solidFill>
                <a:latin typeface="微软雅黑"/>
              </a:rPr>
              <a:t>3. 两条直线相交，交点叫垂足。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4114800"/>
            <a:ext cx="1371600" cy="566928"/>
          </a:xfrm>
          <a:prstGeom prst="roundRect">
            <a:avLst/>
          </a:prstGeom>
          <a:noFill/>
          <a:ln w="28575">
            <a:solidFill>
              <a:srgbClr val="1C2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166360"/>
            <a:ext cx="8778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>
                <a:solidFill>
                  <a:srgbClr val="1C2230"/>
                </a:solidFill>
                <a:latin typeface="微软雅黑"/>
              </a:rPr>
              <a:t>4. 在同一平面内，两条直线不平行就一定相交。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58400" y="5166360"/>
            <a:ext cx="1371600" cy="566928"/>
          </a:xfrm>
          <a:prstGeom prst="roundRect">
            <a:avLst/>
          </a:prstGeom>
          <a:noFill/>
          <a:ln w="28575">
            <a:solidFill>
              <a:srgbClr val="1C2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274320"/>
            <a:ext cx="121916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1C2230"/>
                </a:solidFill>
                <a:latin typeface="微软雅黑"/>
              </a:rPr>
              <a:t>第三题（挑战层）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0">
                <a:solidFill>
                  <a:srgbClr val="5A6478"/>
                </a:solidFill>
                <a:latin typeface="微软雅黑"/>
              </a:rPr>
              <a:t>用平行与垂直的知识，设计一幅“几何迷宫”。</a:t>
            </a:r>
          </a:p>
        </p:txBody>
      </p:sp>
      <p:pic>
        <p:nvPicPr>
          <p:cNvPr id="4" name="Picture 3" descr="04_环节五_第三题_迷宫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554480"/>
            <a:ext cx="11795760" cy="663511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_环节六_思维导图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82880"/>
            <a:ext cx="11795760" cy="663511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_学生作品_手画直线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_学生作品_编号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_学生作品_编号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_学生作品_编号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_判断练习_答案一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1_判断练习_答案二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2_第一题_答案一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3_第一题_答案二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4_迷宫作品_几何大冒险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