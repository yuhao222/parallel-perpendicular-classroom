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916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>
                <a:solidFill>
                  <a:srgbClr val="1C2230"/>
                </a:solidFill>
                <a:latin typeface="微软雅黑"/>
              </a:rPr>
              <a:t>平行与垂直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5A6478"/>
                </a:solidFill>
                <a:latin typeface="微软雅黑"/>
              </a:rPr>
              <a:t>人教版四年级上册  第五单元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C2230"/>
                </a:solidFill>
                <a:latin typeface="微软雅黑"/>
              </a:rPr>
              <a:t>同一平面内两条直线的位置关系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A6478"/>
                </a:solidFill>
                <a:latin typeface="微软雅黑"/>
              </a:rPr>
              <a:t>孙悟空：演示与追问        猪八戒：出题与点评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C2230"/>
                </a:solidFill>
                <a:latin typeface="微软雅黑"/>
              </a:rPr>
              <a:t>判断练习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5A6478"/>
                </a:solidFill>
                <a:latin typeface="微软雅黑"/>
              </a:rPr>
              <a:t>请判断下面每组两条直线的位置关系，在括号里写“相交”或“不相交”。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00199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C2230"/>
                </a:solidFill>
                <a:latin typeface="微软雅黑"/>
              </a:rPr>
              <a:t>第1组</a:t>
            </a:r>
          </a:p>
        </p:txBody>
      </p:sp>
      <p:pic>
        <p:nvPicPr>
          <p:cNvPr id="5" name="Picture 4" descr="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057400"/>
            <a:ext cx="1876926" cy="1371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057400" y="3566160"/>
            <a:ext cx="1828800" cy="640080"/>
          </a:xfrm>
          <a:prstGeom prst="roundRect">
            <a:avLst/>
          </a:prstGeom>
          <a:noFill/>
          <a:ln w="2857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3584448"/>
            <a:ext cx="1828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A6478"/>
                </a:solidFill>
                <a:latin typeface="微软雅黑"/>
              </a:rPr>
              <a:t>（        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600199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C2230"/>
                </a:solidFill>
                <a:latin typeface="微软雅黑"/>
              </a:rPr>
              <a:t>第2组</a:t>
            </a:r>
          </a:p>
        </p:txBody>
      </p:sp>
      <p:pic>
        <p:nvPicPr>
          <p:cNvPr id="9" name="Picture 8" descr="parallel_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057400"/>
            <a:ext cx="1876926" cy="1371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3566160"/>
            <a:ext cx="1828800" cy="640080"/>
          </a:xfrm>
          <a:prstGeom prst="roundRect">
            <a:avLst/>
          </a:prstGeom>
          <a:noFill/>
          <a:ln w="2857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584448"/>
            <a:ext cx="1828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A6478"/>
                </a:solidFill>
                <a:latin typeface="微软雅黑"/>
              </a:rPr>
              <a:t>（        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947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C2230"/>
                </a:solidFill>
                <a:latin typeface="微软雅黑"/>
              </a:rPr>
              <a:t>第3组</a:t>
            </a:r>
          </a:p>
        </p:txBody>
      </p:sp>
      <p:pic>
        <p:nvPicPr>
          <p:cNvPr id="13" name="Picture 12" descr="conver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4251960"/>
            <a:ext cx="1876926" cy="1371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057400" y="5760720"/>
            <a:ext cx="1828800" cy="640080"/>
          </a:xfrm>
          <a:prstGeom prst="roundRect">
            <a:avLst/>
          </a:prstGeom>
          <a:noFill/>
          <a:ln w="2857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5779008"/>
            <a:ext cx="1828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A6478"/>
                </a:solidFill>
                <a:latin typeface="微软雅黑"/>
              </a:rPr>
              <a:t>（        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7947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C2230"/>
                </a:solidFill>
                <a:latin typeface="微软雅黑"/>
              </a:rPr>
              <a:t>第4组</a:t>
            </a:r>
          </a:p>
        </p:txBody>
      </p:sp>
      <p:pic>
        <p:nvPicPr>
          <p:cNvPr id="17" name="Picture 16" descr="cross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251960"/>
            <a:ext cx="1876926" cy="13716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635240" y="5760720"/>
            <a:ext cx="1828800" cy="640080"/>
          </a:xfrm>
          <a:prstGeom prst="roundRect">
            <a:avLst/>
          </a:prstGeom>
          <a:noFill/>
          <a:ln w="2857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5779008"/>
            <a:ext cx="1828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A6478"/>
                </a:solidFill>
                <a:latin typeface="微软雅黑"/>
              </a:rPr>
              <a:t>（        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C2230"/>
                </a:solidFill>
                <a:latin typeface="微软雅黑"/>
              </a:rPr>
              <a:t>第一题（基础层）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A6478"/>
                </a:solidFill>
                <a:latin typeface="微软雅黑"/>
              </a:rPr>
              <a:t>判断下面每组两条直线的位置关系，在括号里写“平行”或“垂直”；如果是垂直，在图上标出垂足。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C2230"/>
                </a:solidFill>
                <a:latin typeface="微软雅黑"/>
              </a:rPr>
              <a:t>第1组</a:t>
            </a:r>
          </a:p>
        </p:txBody>
      </p:sp>
      <p:pic>
        <p:nvPicPr>
          <p:cNvPr id="5" name="Picture 4" descr="parallel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194560"/>
            <a:ext cx="1876926" cy="1371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057400" y="3703320"/>
            <a:ext cx="1828800" cy="640080"/>
          </a:xfrm>
          <a:prstGeom prst="roundRect">
            <a:avLst/>
          </a:prstGeom>
          <a:noFill/>
          <a:ln w="2857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3721608"/>
            <a:ext cx="1828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A6478"/>
                </a:solidFill>
                <a:latin typeface="微软雅黑"/>
              </a:rPr>
              <a:t>（        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7373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C2230"/>
                </a:solidFill>
                <a:latin typeface="微软雅黑"/>
              </a:rPr>
              <a:t>第2组</a:t>
            </a:r>
          </a:p>
        </p:txBody>
      </p:sp>
      <p:pic>
        <p:nvPicPr>
          <p:cNvPr id="9" name="Picture 8" descr="pe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194560"/>
            <a:ext cx="1371600" cy="1371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3703320"/>
            <a:ext cx="1828800" cy="640080"/>
          </a:xfrm>
          <a:prstGeom prst="roundRect">
            <a:avLst/>
          </a:prstGeom>
          <a:noFill/>
          <a:ln w="2857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721608"/>
            <a:ext cx="1828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A6478"/>
                </a:solidFill>
                <a:latin typeface="微软雅黑"/>
              </a:rPr>
              <a:t>（        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C2230"/>
                </a:solidFill>
                <a:latin typeface="微软雅黑"/>
              </a:rPr>
              <a:t>第3组</a:t>
            </a:r>
          </a:p>
        </p:txBody>
      </p:sp>
      <p:pic>
        <p:nvPicPr>
          <p:cNvPr id="13" name="Picture 12" descr="conver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4389120"/>
            <a:ext cx="1876926" cy="1371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057400" y="5897879"/>
            <a:ext cx="1828800" cy="640080"/>
          </a:xfrm>
          <a:prstGeom prst="roundRect">
            <a:avLst/>
          </a:prstGeom>
          <a:noFill/>
          <a:ln w="2857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5916168"/>
            <a:ext cx="1828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A6478"/>
                </a:solidFill>
                <a:latin typeface="微软雅黑"/>
              </a:rPr>
              <a:t>（        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9319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C2230"/>
                </a:solidFill>
                <a:latin typeface="微软雅黑"/>
              </a:rPr>
              <a:t>第4组</a:t>
            </a:r>
          </a:p>
        </p:txBody>
      </p:sp>
      <p:pic>
        <p:nvPicPr>
          <p:cNvPr id="17" name="Picture 16" descr="perp_obliq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389120"/>
            <a:ext cx="1371600" cy="13716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635240" y="5897879"/>
            <a:ext cx="1828800" cy="640080"/>
          </a:xfrm>
          <a:prstGeom prst="roundRect">
            <a:avLst/>
          </a:prstGeom>
          <a:noFill/>
          <a:ln w="2857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5916168"/>
            <a:ext cx="18288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A6478"/>
                </a:solidFill>
                <a:latin typeface="微软雅黑"/>
              </a:rPr>
              <a:t>（        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C2230"/>
                </a:solidFill>
                <a:latin typeface="微软雅黑"/>
              </a:rPr>
              <a:t>第二题（判断对错）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5A6478"/>
                </a:solidFill>
                <a:latin typeface="微软雅黑"/>
              </a:rPr>
              <a:t>判断下面说法是否正确，在括号里写“对”或“错”，并说说理由。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C2230"/>
                </a:solidFill>
                <a:latin typeface="微软雅黑"/>
              </a:rPr>
              <a:t>1. 不相交的两条直线叫平行线。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2011680"/>
            <a:ext cx="1371600" cy="566928"/>
          </a:xfrm>
          <a:prstGeom prst="roundRect">
            <a:avLst/>
          </a:prstGeom>
          <a:noFill/>
          <a:ln w="2857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C2230"/>
                </a:solidFill>
                <a:latin typeface="微软雅黑"/>
              </a:rPr>
              <a:t>2. 两条直线相交成直角，就说这两条直线互相垂直。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063240"/>
            <a:ext cx="1371600" cy="566928"/>
          </a:xfrm>
          <a:prstGeom prst="roundRect">
            <a:avLst/>
          </a:prstGeom>
          <a:noFill/>
          <a:ln w="2857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C2230"/>
                </a:solidFill>
                <a:latin typeface="微软雅黑"/>
              </a:rPr>
              <a:t>3. 两条直线相交，交点叫垂足。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4114800"/>
            <a:ext cx="1371600" cy="566928"/>
          </a:xfrm>
          <a:prstGeom prst="roundRect">
            <a:avLst/>
          </a:prstGeom>
          <a:noFill/>
          <a:ln w="2857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C2230"/>
                </a:solidFill>
                <a:latin typeface="微软雅黑"/>
              </a:rPr>
              <a:t>4. 在同一平面内，两条直线不平行就一定相交。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5166360"/>
            <a:ext cx="1371600" cy="566928"/>
          </a:xfrm>
          <a:prstGeom prst="roundRect">
            <a:avLst/>
          </a:prstGeom>
          <a:noFill/>
          <a:ln w="2857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C2230"/>
                </a:solidFill>
                <a:latin typeface="微软雅黑"/>
              </a:rPr>
              <a:t>第三题（挑战层）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5A6478"/>
                </a:solidFill>
                <a:latin typeface="微软雅黑"/>
              </a:rPr>
              <a:t>用平行与垂直的知识，设计一幅“几何迷宫”。</a:t>
            </a:r>
          </a:p>
        </p:txBody>
      </p:sp>
      <p:pic>
        <p:nvPicPr>
          <p:cNvPr id="4" name="Picture 3" descr="04_环节五_第三题_迷宫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11795760" cy="66351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环节六_思维导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795760" cy="66351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学生作品_手画直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学生作品_编号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学生作品_编号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学生作品_编号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判断练习_答案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判断练习_答案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第一题_答案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第一题_答案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迷宫作品_几何大冒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